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gON1qyUSRhvzNdtDPtjr8NHq0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d821d545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bd821d5458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821d545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bd821d5458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d821d545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bd821d545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d821d54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bd821d5458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d821d545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bd821d5458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d821d545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bd821d5458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9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body"/>
          </p:nvPr>
        </p:nvSpPr>
        <p:spPr>
          <a:xfrm>
            <a:off x="838200" y="1825625"/>
            <a:ext cx="10515600" cy="385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0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0"/>
          <p:cNvSpPr/>
          <p:nvPr/>
        </p:nvSpPr>
        <p:spPr>
          <a:xfrm flipH="1">
            <a:off x="123536" y="5717905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1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1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2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2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3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5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6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7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8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9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 rot="-172285">
            <a:off x="1108520" y="775849"/>
            <a:ext cx="2987899" cy="2987899"/>
          </a:xfrm>
          <a:prstGeom prst="arc">
            <a:avLst>
              <a:gd fmla="val 16200000" name="adj1"/>
              <a:gd fmla="val 2287352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>
            <p:ph type="ctrTitle"/>
          </p:nvPr>
        </p:nvSpPr>
        <p:spPr>
          <a:xfrm>
            <a:off x="749550" y="1059475"/>
            <a:ext cx="4875600" cy="45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wentieth Century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wentieth Century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Internship Program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wentieth Century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Analysis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wentieth Century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1818"/>
              <a:buFont typeface="Twentieth Century"/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(Helen Zhao 02/08/2026）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-2" l="26844" r="10293" t="0"/>
          <a:stretch/>
        </p:blipFill>
        <p:spPr>
          <a:xfrm>
            <a:off x="7195930" y="-1"/>
            <a:ext cx="4996070" cy="6858001"/>
          </a:xfrm>
          <a:custGeom>
            <a:rect b="b" l="l" r="r" t="t"/>
            <a:pathLst>
              <a:path extrusionOk="0" h="6858001" w="6458232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1" name="Google Shape;111;p1"/>
          <p:cNvSpPr/>
          <p:nvPr/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821d5458_0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bd821d5458_0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g3bd821d5458_0_2"/>
          <p:cNvPicPr preferRelativeResize="0"/>
          <p:nvPr/>
        </p:nvPicPr>
        <p:blipFill rotWithShape="1">
          <a:blip r:embed="rId3">
            <a:alphaModFix/>
          </a:blip>
          <a:srcRect b="0" l="26841" r="10296" t="0"/>
          <a:stretch/>
        </p:blipFill>
        <p:spPr>
          <a:xfrm>
            <a:off x="7195930" y="-1"/>
            <a:ext cx="4988984" cy="6858001"/>
          </a:xfrm>
          <a:custGeom>
            <a:rect b="b" l="l" r="r" t="t"/>
            <a:pathLst>
              <a:path extrusionOk="0" h="6858001" w="6458232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0" name="Google Shape;120;g3bd821d5458_0_2"/>
          <p:cNvSpPr/>
          <p:nvPr/>
        </p:nvSpPr>
        <p:spPr>
          <a:xfrm>
            <a:off x="860742" y="5649686"/>
            <a:ext cx="546000" cy="54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bd821d5458_0_2"/>
          <p:cNvSpPr txBox="1"/>
          <p:nvPr/>
        </p:nvSpPr>
        <p:spPr>
          <a:xfrm>
            <a:off x="860750" y="330800"/>
            <a:ext cx="59046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This presentation covers:</a:t>
            </a:r>
            <a:endParaRPr b="1" sz="2800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Key findings and data trends, including supporting visuals and assumptions.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Root cause analysis for underperformers in the internship program.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Recommendations and next steps.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 txBox="1"/>
          <p:nvPr>
            <p:ph type="title"/>
          </p:nvPr>
        </p:nvSpPr>
        <p:spPr>
          <a:xfrm>
            <a:off x="59725" y="96375"/>
            <a:ext cx="10515600" cy="70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Distribution of Intern Performance Across Teams</a:t>
            </a:r>
            <a:endParaRPr sz="4800"/>
          </a:p>
        </p:txBody>
      </p:sp>
      <p:sp>
        <p:nvSpPr>
          <p:cNvPr id="127" name="Google Shape;127;p2"/>
          <p:cNvSpPr txBox="1"/>
          <p:nvPr/>
        </p:nvSpPr>
        <p:spPr>
          <a:xfrm>
            <a:off x="407775" y="796875"/>
            <a:ext cx="67098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The internship program encompasses </a:t>
            </a:r>
            <a:r>
              <a:rPr b="1" lang="en-US" sz="1800">
                <a:solidFill>
                  <a:schemeClr val="dk1"/>
                </a:solidFill>
              </a:rPr>
              <a:t>80</a:t>
            </a:r>
            <a:r>
              <a:rPr lang="en-US" sz="1800">
                <a:solidFill>
                  <a:schemeClr val="dk1"/>
                </a:solidFill>
              </a:rPr>
              <a:t> participants, who were allocated across </a:t>
            </a:r>
            <a:r>
              <a:rPr b="1" lang="en-US" sz="1800">
                <a:solidFill>
                  <a:schemeClr val="dk1"/>
                </a:solidFill>
              </a:rPr>
              <a:t>three</a:t>
            </a:r>
            <a:r>
              <a:rPr lang="en-US" sz="1800">
                <a:solidFill>
                  <a:schemeClr val="dk1"/>
                </a:solidFill>
              </a:rPr>
              <a:t> teams.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The data reveals the following: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Team A holds the largest proportion of interns</a:t>
            </a:r>
            <a:r>
              <a:rPr lang="en-US" sz="1800">
                <a:solidFill>
                  <a:schemeClr val="dk1"/>
                </a:solidFill>
              </a:rPr>
              <a:t>, representing 50% of the total, followed by Team C with approximately 31% and Team B with about 19%.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Final </a:t>
            </a:r>
            <a:r>
              <a:rPr b="1" lang="en-US" sz="1800">
                <a:solidFill>
                  <a:schemeClr val="dk1"/>
                </a:solidFill>
              </a:rPr>
              <a:t>Performance</a:t>
            </a:r>
            <a:r>
              <a:rPr b="1" lang="en-US" sz="1800">
                <a:solidFill>
                  <a:schemeClr val="dk1"/>
                </a:solidFill>
              </a:rPr>
              <a:t> Rating 4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1" lang="en-US" sz="1800">
                <a:solidFill>
                  <a:schemeClr val="dk1"/>
                </a:solidFill>
              </a:rPr>
              <a:t>is the most frequent outcome</a:t>
            </a:r>
            <a:r>
              <a:rPr lang="en-US" sz="1800">
                <a:solidFill>
                  <a:schemeClr val="dk1"/>
                </a:solidFill>
              </a:rPr>
              <a:t>, constituting 45% of all evaluations, significantly surpassing Rating 5 (13.8%).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Team A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1" lang="en-US" sz="1800">
                <a:solidFill>
                  <a:schemeClr val="dk1"/>
                </a:solidFill>
              </a:rPr>
              <a:t>contributes the greatest share of top performers</a:t>
            </a:r>
            <a:r>
              <a:rPr lang="en-US" sz="1800">
                <a:solidFill>
                  <a:schemeClr val="dk1"/>
                </a:solidFill>
              </a:rPr>
              <a:t>, accounting for nearly half of all Rating 5 results, whereas Team B contributes the smallest portion.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8" name="Google Shape;128;p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201" y="713596"/>
            <a:ext cx="5132475" cy="317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4175" y="4008496"/>
            <a:ext cx="4747419" cy="2669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d821d5458_0_57"/>
          <p:cNvSpPr txBox="1"/>
          <p:nvPr>
            <p:ph type="title"/>
          </p:nvPr>
        </p:nvSpPr>
        <p:spPr>
          <a:xfrm>
            <a:off x="59725" y="96375"/>
            <a:ext cx="10515600" cy="70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Team Structure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bd821d5458_0_57"/>
          <p:cNvSpPr txBox="1"/>
          <p:nvPr/>
        </p:nvSpPr>
        <p:spPr>
          <a:xfrm>
            <a:off x="407775" y="796875"/>
            <a:ext cx="7157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Team A and Team B </a:t>
            </a:r>
            <a:r>
              <a:rPr lang="en-US" sz="1800">
                <a:solidFill>
                  <a:schemeClr val="dk1"/>
                </a:solidFill>
              </a:rPr>
              <a:t>are</a:t>
            </a:r>
            <a:r>
              <a:rPr b="1" lang="en-US" sz="1800">
                <a:solidFill>
                  <a:schemeClr val="dk1"/>
                </a:solidFill>
              </a:rPr>
              <a:t> Python-dominant </a:t>
            </a:r>
            <a:r>
              <a:rPr lang="en-US" sz="1800">
                <a:solidFill>
                  <a:schemeClr val="dk1"/>
                </a:solidFill>
              </a:rPr>
              <a:t>and focus on software development.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Team C</a:t>
            </a:r>
            <a:r>
              <a:rPr lang="en-US" sz="1800">
                <a:solidFill>
                  <a:schemeClr val="dk1"/>
                </a:solidFill>
              </a:rPr>
              <a:t> is structurally different, </a:t>
            </a:r>
            <a:r>
              <a:rPr b="1" lang="en-US" sz="1800">
                <a:solidFill>
                  <a:schemeClr val="dk1"/>
                </a:solidFill>
              </a:rPr>
              <a:t>C++ </a:t>
            </a:r>
            <a:r>
              <a:rPr lang="en-US" sz="1800">
                <a:solidFill>
                  <a:schemeClr val="dk1"/>
                </a:solidFill>
              </a:rPr>
              <a:t>focused, and primarily handles </a:t>
            </a:r>
            <a:r>
              <a:rPr b="1" lang="en-US" sz="1800">
                <a:solidFill>
                  <a:schemeClr val="dk1"/>
                </a:solidFill>
              </a:rPr>
              <a:t>infrastructure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Multi-language interns are assigned to Team C.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6" name="Google Shape;136;g3bd821d5458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000" y="174899"/>
            <a:ext cx="5496375" cy="21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bd821d5458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2775" y="4902100"/>
            <a:ext cx="8089224" cy="193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bd821d5458_0_57"/>
          <p:cNvSpPr txBox="1"/>
          <p:nvPr>
            <p:ph type="title"/>
          </p:nvPr>
        </p:nvSpPr>
        <p:spPr>
          <a:xfrm>
            <a:off x="169275" y="2698925"/>
            <a:ext cx="10515600" cy="70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Intern 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 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bd821d5458_0_57"/>
          <p:cNvSpPr txBox="1"/>
          <p:nvPr/>
        </p:nvSpPr>
        <p:spPr>
          <a:xfrm>
            <a:off x="488700" y="3399425"/>
            <a:ext cx="11703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Interns are mostly fluent in Python.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In </a:t>
            </a:r>
            <a:r>
              <a:rPr b="1" lang="en-US" sz="1800">
                <a:solidFill>
                  <a:schemeClr val="dk1"/>
                </a:solidFill>
              </a:rPr>
              <a:t>Team C, 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Interns with </a:t>
            </a:r>
            <a:r>
              <a:rPr b="1" lang="en-US" sz="1800">
                <a:solidFill>
                  <a:schemeClr val="dk1"/>
                </a:solidFill>
              </a:rPr>
              <a:t>Python and C++ </a:t>
            </a:r>
            <a:r>
              <a:rPr lang="en-US" sz="1800">
                <a:solidFill>
                  <a:schemeClr val="dk1"/>
                </a:solidFill>
              </a:rPr>
              <a:t>coding languages have the highest overall interview scores, team match scores, and final performance ratings.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Interns </a:t>
            </a:r>
            <a:r>
              <a:rPr b="1" lang="en-US" sz="1800">
                <a:solidFill>
                  <a:schemeClr val="dk1"/>
                </a:solidFill>
              </a:rPr>
              <a:t>without C++</a:t>
            </a:r>
            <a:r>
              <a:rPr lang="en-US" sz="1800">
                <a:solidFill>
                  <a:schemeClr val="dk1"/>
                </a:solidFill>
              </a:rPr>
              <a:t> experience have the lowest overall performance rating, interview score, and team match score on average.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0" name="Google Shape;140;g3bd821d5458_0_57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85351" y="2366772"/>
            <a:ext cx="2535994" cy="15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d821d5458_0_36"/>
          <p:cNvSpPr txBox="1"/>
          <p:nvPr>
            <p:ph type="title"/>
          </p:nvPr>
        </p:nvSpPr>
        <p:spPr>
          <a:xfrm>
            <a:off x="59725" y="96375"/>
            <a:ext cx="10515600" cy="70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Where Our Best Intern Talent Comes From</a:t>
            </a:r>
            <a:endParaRPr sz="4800"/>
          </a:p>
        </p:txBody>
      </p:sp>
      <p:sp>
        <p:nvSpPr>
          <p:cNvPr id="146" name="Google Shape;146;g3bd821d5458_0_36"/>
          <p:cNvSpPr txBox="1"/>
          <p:nvPr/>
        </p:nvSpPr>
        <p:spPr>
          <a:xfrm>
            <a:off x="519000" y="796875"/>
            <a:ext cx="62094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Our interns were sourced from </a:t>
            </a:r>
            <a:r>
              <a:rPr b="1" lang="en-US" sz="1800">
                <a:solidFill>
                  <a:schemeClr val="dk1"/>
                </a:solidFill>
              </a:rPr>
              <a:t>16</a:t>
            </a:r>
            <a:r>
              <a:rPr lang="en-US" sz="1800">
                <a:solidFill>
                  <a:schemeClr val="dk1"/>
                </a:solidFill>
              </a:rPr>
              <a:t> different universities.</a:t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The data reveals the following: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Top performance (average rating greater than 4) is observed among interns from</a:t>
            </a:r>
            <a:r>
              <a:rPr b="1" lang="en-US" sz="1800">
                <a:solidFill>
                  <a:schemeClr val="dk1"/>
                </a:solidFill>
              </a:rPr>
              <a:t> Harvard, Princeton, Stanford, Caltech, and MIT</a:t>
            </a:r>
            <a:r>
              <a:rPr lang="en-US" sz="1800">
                <a:solidFill>
                  <a:schemeClr val="dk1"/>
                </a:solidFill>
              </a:rPr>
              <a:t>. These institutions show the highest performance, despite having relatively small intern counts.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Overall, </a:t>
            </a:r>
            <a:r>
              <a:rPr b="1" lang="en-US" sz="1800">
                <a:solidFill>
                  <a:schemeClr val="dk1"/>
                </a:solidFill>
              </a:rPr>
              <a:t>UIUC </a:t>
            </a:r>
            <a:r>
              <a:rPr lang="en-US" sz="1800">
                <a:solidFill>
                  <a:schemeClr val="dk1"/>
                </a:solidFill>
              </a:rPr>
              <a:t>demonstrates the best balance, having the largest intern population while maintaining solid performance.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Only few institutions manage to successfully balance both quality and scale.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47" name="Google Shape;147;g3bd821d5458_0_3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7175" y="0"/>
            <a:ext cx="5528476" cy="385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bd821d5458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3000" y="3699025"/>
            <a:ext cx="3267199" cy="30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d821d5458_0_49"/>
          <p:cNvSpPr txBox="1"/>
          <p:nvPr>
            <p:ph type="title"/>
          </p:nvPr>
        </p:nvSpPr>
        <p:spPr>
          <a:xfrm>
            <a:off x="59725" y="96375"/>
            <a:ext cx="10515600" cy="70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Systemic Skill–Team Mismatch in Python-Only Interns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bd821d5458_0_49"/>
          <p:cNvSpPr txBox="1"/>
          <p:nvPr/>
        </p:nvSpPr>
        <p:spPr>
          <a:xfrm>
            <a:off x="448250" y="796875"/>
            <a:ext cx="111951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These interns were from </a:t>
            </a:r>
            <a:r>
              <a:rPr b="1" lang="en-US" sz="1800">
                <a:solidFill>
                  <a:schemeClr val="dk1"/>
                </a:solidFill>
              </a:rPr>
              <a:t>Team A and Team C.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1" lang="en-US" sz="1800">
                <a:solidFill>
                  <a:schemeClr val="dk1"/>
                </a:solidFill>
              </a:rPr>
              <a:t>14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b="1" lang="en-US" sz="1800">
                <a:solidFill>
                  <a:schemeClr val="dk1"/>
                </a:solidFill>
              </a:rPr>
              <a:t>interns</a:t>
            </a:r>
            <a:r>
              <a:rPr lang="en-US" sz="1800">
                <a:solidFill>
                  <a:schemeClr val="dk1"/>
                </a:solidFill>
              </a:rPr>
              <a:t> received a low performance rating (final performance rating = 2).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They are all Python-Only interns.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They had a low team match score and an overall moderate to low post-interview rating.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The interns from Team C specifically lacked C++ coding experience, </a:t>
            </a:r>
            <a:r>
              <a:rPr b="1" lang="en-US" sz="1800">
                <a:solidFill>
                  <a:schemeClr val="dk1"/>
                </a:solidFill>
              </a:rPr>
              <a:t>indicating a misalignment with infrastructure needs.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Despite some receiving interview ratings over 3.0, the final rating remained 2, </a:t>
            </a:r>
            <a:r>
              <a:rPr b="1" lang="en-US" sz="1800">
                <a:solidFill>
                  <a:schemeClr val="dk1"/>
                </a:solidFill>
              </a:rPr>
              <a:t>suggesting interview performance may have overestimated on-the-job success.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55" name="Google Shape;155;g3bd821d5458_0_49"/>
          <p:cNvPicPr preferRelativeResize="0"/>
          <p:nvPr/>
        </p:nvPicPr>
        <p:blipFill rotWithShape="1">
          <a:blip r:embed="rId3">
            <a:alphaModFix/>
          </a:blip>
          <a:srcRect b="0" l="0" r="45319" t="0"/>
          <a:stretch/>
        </p:blipFill>
        <p:spPr>
          <a:xfrm>
            <a:off x="1041325" y="3654325"/>
            <a:ext cx="7457500" cy="32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d821d5458_0_77"/>
          <p:cNvSpPr txBox="1"/>
          <p:nvPr>
            <p:ph type="title"/>
          </p:nvPr>
        </p:nvSpPr>
        <p:spPr>
          <a:xfrm>
            <a:off x="59725" y="96375"/>
            <a:ext cx="10515600" cy="700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Recommendations and Next Steps: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bd821d5458_0_77"/>
          <p:cNvSpPr txBox="1"/>
          <p:nvPr/>
        </p:nvSpPr>
        <p:spPr>
          <a:xfrm>
            <a:off x="627900" y="796875"/>
            <a:ext cx="109362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Enhance skill alignment : Avoid placing interns with Python-only programming skills on teams that primarily use non-Python languages or have high C++ requirements. If assigned to a C++ team, provide a one-week C++ or relevant coding training to facilitate their integration.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Establish core technical prerequisites: Require exposure to Python and C++ or equivalent systems-level programming as a baseline for assignment to highly complex teams.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Consider increasing the intern headcount from schools that consistently demonstrate a top average performance (&gt; 4.0).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Implement a stricter role-based screening process, hiring interns based on the potential team's needs and required skills, and adding role-specific assessments to the interview process.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Introduce role-specific intern tracks to prevent misalignment between intern skill sets and team needs, reducing the risk of underperformance.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Evaluate intern performance using metrics that extend beyond the singular final performance rating.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d821d5458_0_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bd821d5458_0_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bd821d5458_0_85"/>
          <p:cNvSpPr/>
          <p:nvPr/>
        </p:nvSpPr>
        <p:spPr>
          <a:xfrm rot="-172313">
            <a:off x="1108530" y="775837"/>
            <a:ext cx="2987853" cy="2987853"/>
          </a:xfrm>
          <a:prstGeom prst="arc">
            <a:avLst>
              <a:gd fmla="val 16200000" name="adj1"/>
              <a:gd fmla="val 2287352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bd821d5458_0_85"/>
          <p:cNvSpPr txBox="1"/>
          <p:nvPr>
            <p:ph type="ctrTitle"/>
          </p:nvPr>
        </p:nvSpPr>
        <p:spPr>
          <a:xfrm>
            <a:off x="749550" y="3836675"/>
            <a:ext cx="42858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Thank you!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</a:pPr>
            <a:r>
              <a:t/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bd821d5458_0_85"/>
          <p:cNvPicPr preferRelativeResize="0"/>
          <p:nvPr/>
        </p:nvPicPr>
        <p:blipFill rotWithShape="1">
          <a:blip r:embed="rId3">
            <a:alphaModFix/>
          </a:blip>
          <a:srcRect b="0" l="26841" r="10296" t="0"/>
          <a:stretch/>
        </p:blipFill>
        <p:spPr>
          <a:xfrm>
            <a:off x="7195930" y="-1"/>
            <a:ext cx="4988984" cy="6858001"/>
          </a:xfrm>
          <a:custGeom>
            <a:rect b="b" l="l" r="r" t="t"/>
            <a:pathLst>
              <a:path extrusionOk="0" h="6858001" w="6458232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71" name="Google Shape;171;g3bd821d5458_0_85"/>
          <p:cNvSpPr/>
          <p:nvPr/>
        </p:nvSpPr>
        <p:spPr>
          <a:xfrm>
            <a:off x="5394269" y="4274457"/>
            <a:ext cx="825300" cy="825300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bd821d5458_0_85"/>
          <p:cNvSpPr/>
          <p:nvPr/>
        </p:nvSpPr>
        <p:spPr>
          <a:xfrm>
            <a:off x="860742" y="5649686"/>
            <a:ext cx="546000" cy="54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apesVTI">
  <a:themeElements>
    <a:clrScheme name="AnalogousFromLightSeedLeftStep">
      <a:dk1>
        <a:srgbClr val="000000"/>
      </a:dk1>
      <a:lt1>
        <a:srgbClr val="FFFFFF"/>
      </a:lt1>
      <a:dk2>
        <a:srgbClr val="243341"/>
      </a:dk2>
      <a:lt2>
        <a:srgbClr val="E8E5E2"/>
      </a:lt2>
      <a:accent1>
        <a:srgbClr val="88A4BF"/>
      </a:accent1>
      <a:accent2>
        <a:srgbClr val="77ABAE"/>
      </a:accent2>
      <a:accent3>
        <a:srgbClr val="81AA9B"/>
      </a:accent3>
      <a:accent4>
        <a:srgbClr val="78AF84"/>
      </a:accent4>
      <a:accent5>
        <a:srgbClr val="89AA81"/>
      </a:accent5>
      <a:accent6>
        <a:srgbClr val="93A973"/>
      </a:accent6>
      <a:hlink>
        <a:srgbClr val="9E7D5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2020-10-23T21:50:47Z</dcterms:created>
  <dc:creator>Helen Zhao</dc:creator>
</cp:coreProperties>
</file>